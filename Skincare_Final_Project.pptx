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249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D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4572000" cy="45720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A855F7">
              <a:alpha val="28000"/>
            </a:srgbClr>
          </a:solidFill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SKINCARE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— Final Project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993392" cy="914400"/>
          </a:xfrm>
          <a:prstGeom prst="rect">
            <a:avLst/>
          </a:prstGeom>
          <a:solidFill>
            <a:srgbClr val="6D28D9"/>
          </a:solidFill>
          <a:ln/>
          <a:effectLst>
            <a:outerShdw blurRad="127000" dist="38100" dir="8100000" algn="bl" rotWithShape="0">
              <a:srgbClr val="4A1D9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116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₹70.65M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1965960"/>
            <a:ext cx="1993392" cy="914400"/>
          </a:xfrm>
          <a:prstGeom prst="rect">
            <a:avLst/>
          </a:prstGeom>
          <a:solidFill>
            <a:srgbClr val="6D28D9"/>
          </a:solidFill>
          <a:ln/>
          <a:effectLst>
            <a:outerShdw blurRad="127000" dist="38100" dir="8100000" algn="bl" rotWithShape="0">
              <a:srgbClr val="4A1D9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20116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40,230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24231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965960"/>
            <a:ext cx="1993392" cy="914400"/>
          </a:xfrm>
          <a:prstGeom prst="rect">
            <a:avLst/>
          </a:prstGeom>
          <a:solidFill>
            <a:srgbClr val="6D28D9"/>
          </a:solidFill>
          <a:ln/>
          <a:effectLst>
            <a:outerShdw blurRad="127000" dist="38100" dir="8100000" algn="bl" rotWithShape="0">
              <a:srgbClr val="4A1D9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0116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10,451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24231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03720" y="1965960"/>
            <a:ext cx="1993392" cy="914400"/>
          </a:xfrm>
          <a:prstGeom prst="rect">
            <a:avLst/>
          </a:prstGeom>
          <a:solidFill>
            <a:srgbClr val="6D28D9"/>
          </a:solidFill>
          <a:ln/>
          <a:effectLst>
            <a:outerShdw blurRad="127000" dist="38100" dir="8100000" algn="bl" rotWithShape="0">
              <a:srgbClr val="4A1D9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20116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103,695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24231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Sold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Analysis · 2022–2024  |  Skincare Market  |  40,230 Records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Excel  ·  SQL  ·  Power BI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Vuppala Hanish Reddy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INTRODUCTION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926512"/>
            <a:ext cx="5120640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5120640" cy="34747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Objective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164592" cy="16459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71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3 years (2022–2024) of India’s Skincare sales data to uncover business insights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164592" cy="16459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01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products, channels, and customer segments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164592" cy="16459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323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 for stakeholder decision-making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164592" cy="16459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complete end-to-end data workflow: Excel → SQL → Power BI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529584"/>
            <a:ext cx="48463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611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 at a Glance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39136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40,230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4279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00200" y="39136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4279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834640" y="39136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834640" y="4279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69080" y="39136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069080" y="4279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77840" y="914400"/>
            <a:ext cx="3291840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914400"/>
            <a:ext cx="3291840" cy="34747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5687568" y="960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Tools &amp; Workflow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87568" y="1417320"/>
            <a:ext cx="3090672" cy="960120"/>
          </a:xfrm>
          <a:prstGeom prst="rect">
            <a:avLst/>
          </a:prstGeom>
          <a:solidFill>
            <a:srgbClr val="EDE9F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87568" y="1417320"/>
            <a:ext cx="502920" cy="960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5687568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54496" y="1472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54496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87568" y="2514600"/>
            <a:ext cx="3090672" cy="960120"/>
          </a:xfrm>
          <a:prstGeom prst="rect">
            <a:avLst/>
          </a:prstGeom>
          <a:solidFill>
            <a:srgbClr val="EDE9F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87568" y="2514600"/>
            <a:ext cx="502920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5687568" y="2606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54496" y="25694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54496" y="2990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Import &amp; Querying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87568" y="3611880"/>
            <a:ext cx="3090672" cy="960120"/>
          </a:xfrm>
          <a:prstGeom prst="rect">
            <a:avLst/>
          </a:prstGeom>
          <a:solidFill>
            <a:srgbClr val="EDE9F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87568" y="3611880"/>
            <a:ext cx="502920" cy="960120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41" name="Text 39"/>
          <p:cNvSpPr/>
          <p:nvPr/>
        </p:nvSpPr>
        <p:spPr>
          <a:xfrm>
            <a:off x="5687568" y="3703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54496" y="36667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254496" y="4087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 DESCRIPTION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886968"/>
            <a:ext cx="8668512" cy="347472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95728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22192" y="914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26187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8016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395728" y="128016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22192" y="128016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order (Primary Key)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6032" y="142189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44018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395728" y="14401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22192" y="144018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reference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158191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60020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395728" y="160020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822192" y="160020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when the order was placed (DD-MM-YYYY)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174193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176022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395728" y="176022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22192" y="176022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skincare product purchased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" y="190195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192024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395728" y="192024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22192" y="192024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category: Serum, Toner, Moisturizer, Cleanser, etc.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" y="206197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208026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hero_ingredient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395728" y="208026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822192" y="208026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active ingredient (e.g., Niacinamide, Ceramide, Bakuchiol)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" y="222199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224028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skin_type_target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395728" y="22402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822192" y="224028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skin type: Oily, Dry, Sensitive, All, etc.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032" y="238201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240030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concern_addressed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395728" y="240030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822192" y="240030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concern the product targets (Anti-Aging, Pores, Radiance…)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032" y="254203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256032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price_inr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395728" y="256032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822192" y="256032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 per unit in Indian Rupees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6032" y="270205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6" name="Text 54"/>
          <p:cNvSpPr/>
          <p:nvPr/>
        </p:nvSpPr>
        <p:spPr>
          <a:xfrm>
            <a:off x="365760" y="272034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units_sold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395728" y="272034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822192" y="272034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units sold in the order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56032" y="286207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288036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discount_pct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395728" y="288036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822192" y="288036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 on the order (0–50%)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6032" y="302209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304038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395728" y="30403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822192" y="304038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channel: Instagram Shop, Nykaa, Amazon, D2C Website, etc.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56032" y="318211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365760" y="320040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city_tier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2395728" y="320040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3822192" y="320040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city classification: Tier 1 / Tier 2 / Tier 3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56032" y="334213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6" name="Text 74"/>
          <p:cNvSpPr/>
          <p:nvPr/>
        </p:nvSpPr>
        <p:spPr>
          <a:xfrm>
            <a:off x="365760" y="336042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2395728" y="336042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822192" y="336042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state of the customer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56032" y="350215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365760" y="352044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2395728" y="352044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822192" y="352044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gender: Male / Female / Non-binary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56032" y="366217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6" name="Text 84"/>
          <p:cNvSpPr/>
          <p:nvPr/>
        </p:nvSpPr>
        <p:spPr>
          <a:xfrm>
            <a:off x="365760" y="368046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age_bracket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2395728" y="368046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822192" y="368046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group: 18-24 · 25-32 · 33-40 · 41-50 · 51+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56032" y="382219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365760" y="384048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repeat_purchase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2395728" y="38404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822192" y="384048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New_Customer or Old_Customer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56032" y="398221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6" name="Text 94"/>
          <p:cNvSpPr/>
          <p:nvPr/>
        </p:nvSpPr>
        <p:spPr>
          <a:xfrm>
            <a:off x="365760" y="400050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review_rating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2395728" y="400050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3822192" y="400050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 on a scale of 1–5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256032" y="414223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9"/>
          <p:cNvSpPr/>
          <p:nvPr/>
        </p:nvSpPr>
        <p:spPr>
          <a:xfrm>
            <a:off x="365760" y="416052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review_sentiment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395728" y="416052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3822192" y="416052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label: Positive / Neutral / Negative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256032" y="430225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06" name="Text 104"/>
          <p:cNvSpPr/>
          <p:nvPr/>
        </p:nvSpPr>
        <p:spPr>
          <a:xfrm>
            <a:off x="365760" y="432054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influencer_collab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2395728" y="432054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3822192" y="432054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influencer collaboration was involved: Yes / No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56032" y="446227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9"/>
          <p:cNvSpPr/>
          <p:nvPr/>
        </p:nvSpPr>
        <p:spPr>
          <a:xfrm>
            <a:off x="365760" y="448056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return_flag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2395728" y="448056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3822192" y="448056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item was returned: Returned / Not_Returned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256032" y="462229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16" name="Text 114"/>
          <p:cNvSpPr/>
          <p:nvPr/>
        </p:nvSpPr>
        <p:spPr>
          <a:xfrm>
            <a:off x="365760" y="464058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return_reason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2395728" y="46405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822192" y="464058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return (N/A if order was not returned)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256032" y="4782312"/>
            <a:ext cx="8668512" cy="158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9"/>
          <p:cNvSpPr/>
          <p:nvPr/>
        </p:nvSpPr>
        <p:spPr>
          <a:xfrm>
            <a:off x="365760" y="480060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cogs_inr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2395728" y="480060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3822192" y="480060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Sold per unit in INR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256032" y="4942332"/>
            <a:ext cx="8668512" cy="158191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26" name="Text 124"/>
          <p:cNvSpPr/>
          <p:nvPr/>
        </p:nvSpPr>
        <p:spPr>
          <a:xfrm>
            <a:off x="365760" y="4960620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gross_margin_pct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2395728" y="496062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750" dirty="0"/>
          </a:p>
        </p:txBody>
      </p:sp>
      <p:sp>
        <p:nvSpPr>
          <p:cNvPr id="128" name="Text 126"/>
          <p:cNvSpPr/>
          <p:nvPr/>
        </p:nvSpPr>
        <p:spPr>
          <a:xfrm>
            <a:off x="3822192" y="496062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percentage per order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 CLEANING IN EXCEL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4279392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4279392" cy="54864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896112"/>
            <a:ext cx="475488" cy="1115568"/>
          </a:xfrm>
          <a:prstGeom prst="rect">
            <a:avLst/>
          </a:prstGeom>
          <a:solidFill>
            <a:srgbClr val="4A1D96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987552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987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Renamed Column Names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298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Standardized all 24 column headers to lowercase with underscores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1536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Used "Find &amp; Replace" and manual rename (e.g. "Product Name" → "product_name")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4672" y="17739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Clean names prevent errors during SQL import and Power BI modelling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90872" y="896112"/>
            <a:ext cx="4279392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896112"/>
            <a:ext cx="427939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4690872" y="896112"/>
            <a:ext cx="475488" cy="1115568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27448" y="987552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9512" y="987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Changed Date Format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39512" y="1298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Converted order_date to consistent DD-MM-YYYY format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39512" y="1536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Selected column → Format Cells → Custom → "DD-MM-YYYY". Verified no text-dates remain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39512" y="17739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Required for time-intelligence in Power BI (DATEADD, SAMEPERIODLASTYEAR)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2084832"/>
            <a:ext cx="4279392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084832"/>
            <a:ext cx="4279392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" y="2084832"/>
            <a:ext cx="475488" cy="1115568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" y="2176272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21762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Changed Data Types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" y="2487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Assigned correct types to all 24 columns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" y="2724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price_inr, cogs_inr → Decimal. units_sold, discount_pct → Integer. order_date → Date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" y="29626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Wrong types cause aggregation errors in both SQL and Power BI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90872" y="2084832"/>
            <a:ext cx="4279392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90872" y="2084832"/>
            <a:ext cx="4279392" cy="5486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1" name="Shape 29"/>
          <p:cNvSpPr/>
          <p:nvPr/>
        </p:nvSpPr>
        <p:spPr>
          <a:xfrm>
            <a:off x="4690872" y="2084832"/>
            <a:ext cx="475488" cy="1115568"/>
          </a:xfrm>
          <a:prstGeom prst="rect">
            <a:avLst/>
          </a:prstGeom>
          <a:solidFill>
            <a:srgbClr val="6D28D9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27448" y="2176272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39512" y="21762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Handled Null / Missing Values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39512" y="2487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Identified and resolved all blank/null values in the dataset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39512" y="2724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Ctrl+F → Find Blanks. return_reason nulls set to "N/A" for non-returned orders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39512" y="29626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N/A was intentional — null in return_reason means order was not returned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6032" y="3310128"/>
            <a:ext cx="8668512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3310128"/>
            <a:ext cx="866851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Shape 37"/>
          <p:cNvSpPr/>
          <p:nvPr/>
        </p:nvSpPr>
        <p:spPr>
          <a:xfrm>
            <a:off x="256032" y="3310128"/>
            <a:ext cx="475488" cy="1536192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292608" y="3401568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04672" y="34015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 3 Calculated Columns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4672" y="37124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Added revenue, total_cost, gross_margin_pct as new columns using Excel formulas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04672" y="4206240"/>
            <a:ext cx="2670048" cy="56692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4" name="Text 42"/>
          <p:cNvSpPr/>
          <p:nvPr/>
        </p:nvSpPr>
        <p:spPr>
          <a:xfrm>
            <a:off x="896112" y="42336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96112" y="442569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price_inr  ×  units_sold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96112" y="460857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per order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566160" y="4206240"/>
            <a:ext cx="2670048" cy="56692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8" name="Text 46"/>
          <p:cNvSpPr/>
          <p:nvPr/>
        </p:nvSpPr>
        <p:spPr>
          <a:xfrm>
            <a:off x="3730752" y="42336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total_cost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730752" y="442569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cogs_inr  ×  units_sold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730752" y="460857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per order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358532" y="4197096"/>
            <a:ext cx="2566012" cy="56692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2" name="Text 50"/>
          <p:cNvSpPr/>
          <p:nvPr/>
        </p:nvSpPr>
        <p:spPr>
          <a:xfrm>
            <a:off x="6565392" y="423367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gross_margin_pct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83096" y="442569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(price_inr − cogs_inr) / price_inr × 100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565392" y="460857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% per order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DATABASE SCHEMA — Single Flat Table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71600" y="850392"/>
            <a:ext cx="6400800" cy="420624"/>
          </a:xfrm>
          <a:prstGeom prst="rect">
            <a:avLst/>
          </a:prstGeom>
          <a:solidFill>
            <a:srgbClr val="4A1D96"/>
          </a:solidFill>
          <a:ln/>
          <a:effectLst>
            <a:outerShdw blurRad="127000" dist="38100" dir="8100000" algn="bl" rotWithShape="0">
              <a:srgbClr val="4A1D9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42737" y="8961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skincare_data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3030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|  40,230 rows  ×  24 columns  |  Imported from: Skincare.csv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0312" y="1504483"/>
            <a:ext cx="420624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361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0312" y="1856356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" y="1755648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79222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 (Primary Key)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0312" y="1956816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10312" y="1956816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199339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10312" y="2212848"/>
            <a:ext cx="420624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24942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0312" y="2468880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10312" y="2468880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50545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0312" y="2724912"/>
            <a:ext cx="420624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" y="276148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0312" y="2980944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10312" y="2980944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01752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0312" y="3182112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10312" y="3182112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218688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10312" y="3383280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10312" y="3383280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41985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hero_ingredient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16532" y="3590668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10312" y="3584448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62102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skin_type_target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0312" y="3785616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210312" y="3785616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82219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concern_addressed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10312" y="4041648"/>
            <a:ext cx="420624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2" name="Text 40"/>
          <p:cNvSpPr/>
          <p:nvPr/>
        </p:nvSpPr>
        <p:spPr>
          <a:xfrm>
            <a:off x="301752" y="407822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 &amp; Pricing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0312" y="4297680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210312" y="4297680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433425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price_inr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10312" y="4498848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210312" y="4498848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" y="453542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units_sold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10312" y="4700016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10312" y="4700016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" y="473659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discount_pct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10312" y="4901184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210312" y="4901184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" y="493776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636008" y="1499616"/>
            <a:ext cx="420624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6" name="Text 54"/>
          <p:cNvSpPr/>
          <p:nvPr/>
        </p:nvSpPr>
        <p:spPr>
          <a:xfrm>
            <a:off x="4727448" y="15361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36008" y="1755648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4636008" y="1755648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745736" y="179222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city_tier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636008" y="1956816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4636008" y="1956816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745736" y="199339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636008" y="2157984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4636008" y="2157984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745736" y="219456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636008" y="2359152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4636008" y="2359152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4745736" y="2395728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age_bracket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636008" y="2560320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4636008" y="2560320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4745736" y="259689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repeat_purchase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636008" y="2816352"/>
            <a:ext cx="420624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3" name="Text 71"/>
          <p:cNvSpPr/>
          <p:nvPr/>
        </p:nvSpPr>
        <p:spPr>
          <a:xfrm>
            <a:off x="4727448" y="285292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636008" y="3072384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4636008" y="3072384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4745736" y="310896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review_rating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636008" y="3273552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4636008" y="3273552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4745736" y="3310128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review_sentiment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636008" y="3529584"/>
            <a:ext cx="420624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1" name="Text 79"/>
          <p:cNvSpPr/>
          <p:nvPr/>
        </p:nvSpPr>
        <p:spPr>
          <a:xfrm>
            <a:off x="4727448" y="356616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Marketing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636008" y="3785616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hape 81"/>
          <p:cNvSpPr/>
          <p:nvPr/>
        </p:nvSpPr>
        <p:spPr>
          <a:xfrm>
            <a:off x="4636008" y="3785616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4745736" y="382219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influencer_collab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636008" y="4041648"/>
            <a:ext cx="420624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6" name="Text 84"/>
          <p:cNvSpPr/>
          <p:nvPr/>
        </p:nvSpPr>
        <p:spPr>
          <a:xfrm>
            <a:off x="4727448" y="407822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&amp; Finance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636008" y="4297680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hape 86"/>
          <p:cNvSpPr/>
          <p:nvPr/>
        </p:nvSpPr>
        <p:spPr>
          <a:xfrm>
            <a:off x="4636008" y="4297680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4745736" y="433425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return_flag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636008" y="4498848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hape 89"/>
          <p:cNvSpPr/>
          <p:nvPr/>
        </p:nvSpPr>
        <p:spPr>
          <a:xfrm>
            <a:off x="4636008" y="4498848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4745736" y="453542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return_reason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636008" y="4700016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Shape 92"/>
          <p:cNvSpPr/>
          <p:nvPr/>
        </p:nvSpPr>
        <p:spPr>
          <a:xfrm>
            <a:off x="4636008" y="4700016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4745736" y="473659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cogs_inr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636008" y="4901184"/>
            <a:ext cx="420624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hape 95"/>
          <p:cNvSpPr/>
          <p:nvPr/>
        </p:nvSpPr>
        <p:spPr>
          <a:xfrm>
            <a:off x="4636008" y="4901184"/>
            <a:ext cx="54864" cy="201168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4745736" y="493776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gross_margin_pct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SQL QUERIES — Part 1: Q1–Q3  (Table: skincare_data)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0" y="932688"/>
            <a:ext cx="4389120" cy="1933395"/>
          </a:xfrm>
          <a:prstGeom prst="rect">
            <a:avLst/>
          </a:prstGeom>
          <a:solidFill>
            <a:srgbClr val="251550"/>
          </a:solidFill>
          <a:ln/>
          <a:effectLst>
            <a:outerShdw blurRad="127000" dist="38100" dir="8100000" algn="bl" rotWithShape="0">
              <a:srgbClr val="4A1D9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42453" y="935923"/>
            <a:ext cx="420624" cy="1917005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4599432" y="996696"/>
            <a:ext cx="365760" cy="541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905256"/>
            <a:ext cx="3730752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Sales Channel 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47488" y="1144523"/>
            <a:ext cx="1920240" cy="129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channel,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SUM(price_inr * units_sold)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revenue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Skincare$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channel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DESC;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01747" y="2011680"/>
            <a:ext cx="2713653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818319" y="2048256"/>
            <a:ext cx="12375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632135" y="2048256"/>
            <a:ext cx="12375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01747" y="2249424"/>
            <a:ext cx="2713653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18319" y="2276856"/>
            <a:ext cx="12375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Shop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632135" y="2276856"/>
            <a:ext cx="12375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₹108.56L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201747" y="2450592"/>
            <a:ext cx="2713653" cy="20116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6818319" y="2478024"/>
            <a:ext cx="12375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632135" y="2478024"/>
            <a:ext cx="12375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₹95.01L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201747" y="2651760"/>
            <a:ext cx="2713653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18319" y="2679192"/>
            <a:ext cx="12375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Purplle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632135" y="2679192"/>
            <a:ext cx="123754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₹91.46L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201747" y="2011680"/>
            <a:ext cx="2713653" cy="84124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919533"/>
            <a:ext cx="4185837" cy="1933395"/>
          </a:xfrm>
          <a:prstGeom prst="rect">
            <a:avLst/>
          </a:prstGeom>
          <a:solidFill>
            <a:srgbClr val="251550"/>
          </a:solidFill>
          <a:ln/>
          <a:effectLst>
            <a:outerShdw blurRad="127000" dist="38100" dir="8100000" algn="bl" rotWithShape="0">
              <a:srgbClr val="4A1D96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37744" y="919533"/>
            <a:ext cx="420624" cy="1933395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6" name="Text 44"/>
          <p:cNvSpPr/>
          <p:nvPr/>
        </p:nvSpPr>
        <p:spPr>
          <a:xfrm>
            <a:off x="256032" y="941834"/>
            <a:ext cx="365760" cy="68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6656" y="941833"/>
            <a:ext cx="3730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 by Age Group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76656" y="1243584"/>
            <a:ext cx="16642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age_bracket,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ROUND(100.0*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repeat_purchase='Old_Customer'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1 ELSE 0 END)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/COUNT(*),2)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repeat_rate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Skincare$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age_bracket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repeat_rate DESC;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514600" y="1787870"/>
            <a:ext cx="1979676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2731921" y="1824446"/>
            <a:ext cx="9028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Age_bracket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545737" y="1824446"/>
            <a:ext cx="9028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repeat_rate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514600" y="2025614"/>
            <a:ext cx="197967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731921" y="2053046"/>
            <a:ext cx="90281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18-24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545737" y="2053046"/>
            <a:ext cx="90281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46.59%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514600" y="2226782"/>
            <a:ext cx="1979676" cy="20116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6" name="Text 54"/>
          <p:cNvSpPr/>
          <p:nvPr/>
        </p:nvSpPr>
        <p:spPr>
          <a:xfrm>
            <a:off x="2731921" y="2254214"/>
            <a:ext cx="90281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25-32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545737" y="2254214"/>
            <a:ext cx="90281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46.18%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514600" y="2427950"/>
            <a:ext cx="1979676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2731921" y="2455382"/>
            <a:ext cx="90281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33-40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545737" y="2455382"/>
            <a:ext cx="90281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45.65%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521629" y="1787870"/>
            <a:ext cx="1979676" cy="84124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196328" y="2971800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Exfoliant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8010144" y="2971800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Low(0-9%)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201168" y="2965527"/>
            <a:ext cx="8759952" cy="1874520"/>
          </a:xfrm>
          <a:prstGeom prst="rect">
            <a:avLst/>
          </a:prstGeom>
          <a:solidFill>
            <a:srgbClr val="251550"/>
          </a:solidFill>
          <a:ln/>
          <a:effectLst>
            <a:outerShdw blurRad="127000" dist="38100" dir="8100000" algn="bl" rotWithShape="0">
              <a:srgbClr val="4A1D96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228600" y="2971800"/>
            <a:ext cx="420624" cy="18745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9" name="Text 87"/>
          <p:cNvSpPr/>
          <p:nvPr/>
        </p:nvSpPr>
        <p:spPr>
          <a:xfrm>
            <a:off x="256032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704088" y="3154680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Hero Ingredients by Gross Margin %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704088" y="3438144"/>
            <a:ext cx="2743200" cy="108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68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hero_ingredient</a:t>
            </a: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</a:t>
            </a:r>
            <a:r>
              <a:rPr lang="en-US" sz="68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gross_margin_pct</a:t>
            </a: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),2)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</a:t>
            </a:r>
            <a:r>
              <a:rPr lang="en-US" sz="68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avg_margin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Skincare$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68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hero_ingredient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68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avg_margin</a:t>
            </a: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DESC;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3538728" y="3419856"/>
            <a:ext cx="521208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3" name="Text 91"/>
          <p:cNvSpPr/>
          <p:nvPr/>
        </p:nvSpPr>
        <p:spPr>
          <a:xfrm>
            <a:off x="3584448" y="3456432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hero_ingredient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6300216" y="3456432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avg_margin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538728" y="3657600"/>
            <a:ext cx="52120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3584448" y="3685032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Retinol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6300216" y="3685032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49.62%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3538728" y="3858768"/>
            <a:ext cx="5212080" cy="20116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99" name="Text 97"/>
          <p:cNvSpPr/>
          <p:nvPr/>
        </p:nvSpPr>
        <p:spPr>
          <a:xfrm>
            <a:off x="3584448" y="3886200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 Oxide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6300216" y="3886200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49.39%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3538728" y="4059936"/>
            <a:ext cx="5221224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3584448" y="4087368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Glycolic Acid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6300216" y="4087368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49.37%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3538728" y="4261104"/>
            <a:ext cx="5221224" cy="20116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05" name="Text 103"/>
          <p:cNvSpPr/>
          <p:nvPr/>
        </p:nvSpPr>
        <p:spPr>
          <a:xfrm>
            <a:off x="3584448" y="4288536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Ascorbic Acid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6300216" y="4288536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49.34%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3538728" y="4462272"/>
            <a:ext cx="52120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/>
          <p:nvPr/>
        </p:nvSpPr>
        <p:spPr>
          <a:xfrm>
            <a:off x="3584448" y="4489704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Hyaluronic Acid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6300216" y="4489704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49.33%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3538728" y="3425703"/>
            <a:ext cx="5212080" cy="12435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49224" y="4522791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Retinol has the highest margin at 49.62%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SQL QUERIES — Part 2: Q4–Q6  (Table: skincare_data)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37744" y="849583"/>
            <a:ext cx="4279392" cy="1939337"/>
          </a:xfrm>
          <a:prstGeom prst="rect">
            <a:avLst/>
          </a:prstGeom>
          <a:solidFill>
            <a:srgbClr val="251550"/>
          </a:solidFill>
          <a:ln/>
          <a:effectLst>
            <a:outerShdw blurRad="127000" dist="38100" dir="8100000" algn="bl" rotWithShape="0">
              <a:srgbClr val="4A1D9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77824"/>
            <a:ext cx="420624" cy="19110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" y="923544"/>
            <a:ext cx="373075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by Product Category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207007"/>
            <a:ext cx="1920240" cy="143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category,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ROUND(100.0*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return_flag='Returned'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1 ELSE 0 END)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/COUNT(*),2)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return_rate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skincare$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category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return_rate DESC;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1664208" cy="3169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225296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57016" y="1225296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return_rate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697480" y="1426464"/>
            <a:ext cx="1664208" cy="2682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453896"/>
            <a:ext cx="758952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Cream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57016" y="1453896"/>
            <a:ext cx="758952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11.11%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697480" y="1627632"/>
            <a:ext cx="1664208" cy="268224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655064"/>
            <a:ext cx="758952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57016" y="1655064"/>
            <a:ext cx="758952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10.48%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697480" y="1828800"/>
            <a:ext cx="1664208" cy="2682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1856232"/>
            <a:ext cx="758952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557016" y="1856232"/>
            <a:ext cx="758952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8.01%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688336" y="1188720"/>
            <a:ext cx="1664208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487168"/>
            <a:ext cx="370332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Eye Cream has highest return rate: 11.11%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63440" y="877824"/>
            <a:ext cx="4279392" cy="1911096"/>
          </a:xfrm>
          <a:prstGeom prst="rect">
            <a:avLst/>
          </a:prstGeom>
          <a:solidFill>
            <a:srgbClr val="251550"/>
          </a:solidFill>
          <a:ln/>
          <a:effectLst>
            <a:outerShdw blurRad="127000" dist="38100" dir="8100000" algn="bl" rotWithShape="0">
              <a:srgbClr val="4A1D9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877824"/>
            <a:ext cx="420624" cy="19110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690872" y="932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38928" y="92354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Skin Concern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38928" y="1207008"/>
            <a:ext cx="2103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concern_addressed,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SUM(price_inr*units_sold)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revenue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skincare$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concern_addressed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7150608" y="1188720"/>
            <a:ext cx="1664208" cy="23774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0" name="Text 28"/>
          <p:cNvSpPr/>
          <p:nvPr/>
        </p:nvSpPr>
        <p:spPr>
          <a:xfrm>
            <a:off x="7196328" y="1225296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010144" y="1225296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150608" y="1426464"/>
            <a:ext cx="1664208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196328" y="1453896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Anti-Aging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010144" y="1453896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₹156.33L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150608" y="1627632"/>
            <a:ext cx="1664208" cy="20116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6" name="Text 34"/>
          <p:cNvSpPr/>
          <p:nvPr/>
        </p:nvSpPr>
        <p:spPr>
          <a:xfrm>
            <a:off x="7196328" y="1655064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010144" y="1655064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₹99.45L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150608" y="1828800"/>
            <a:ext cx="1664208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196328" y="1856232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010144" y="1856232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₹66.59L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150608" y="1188720"/>
            <a:ext cx="1664208" cy="84124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244144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Anti-Aging drives 22% of total revenue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823960" y="2569464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8823960" y="2770632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228600" y="2871216"/>
            <a:ext cx="8686800" cy="2112264"/>
          </a:xfrm>
          <a:prstGeom prst="rect">
            <a:avLst/>
          </a:prstGeom>
          <a:solidFill>
            <a:srgbClr val="251550"/>
          </a:solidFill>
          <a:ln/>
          <a:effectLst>
            <a:outerShdw blurRad="127000" dist="38100" dir="8100000" algn="bl" rotWithShape="0">
              <a:srgbClr val="4A1D96">
                <a:alpha val="1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228600" y="2871216"/>
            <a:ext cx="420624" cy="21122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0" name="Text 88"/>
          <p:cNvSpPr/>
          <p:nvPr/>
        </p:nvSpPr>
        <p:spPr>
          <a:xfrm>
            <a:off x="256032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685800" y="2917869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Product per Category (Window Function — RANK)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04088" y="3031827"/>
            <a:ext cx="2743200" cy="1595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category, product_name, total_rev,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RANK() OVER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(PARTITION BY category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total_rev DESC)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cat_rank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category, product_name,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SUM(price_inr*units_sold)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total_rev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skincare$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category, product_name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sub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68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cat_rank</a:t>
            </a:r>
            <a:r>
              <a:rPr lang="en-US" sz="6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1;</a:t>
            </a:r>
            <a:endParaRPr lang="en-US" sz="680" dirty="0"/>
          </a:p>
        </p:txBody>
      </p:sp>
      <p:sp>
        <p:nvSpPr>
          <p:cNvPr id="93" name="Shape 91"/>
          <p:cNvSpPr/>
          <p:nvPr/>
        </p:nvSpPr>
        <p:spPr>
          <a:xfrm>
            <a:off x="3538728" y="3419856"/>
            <a:ext cx="5285232" cy="23774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4" name="Text 92"/>
          <p:cNvSpPr/>
          <p:nvPr/>
        </p:nvSpPr>
        <p:spPr>
          <a:xfrm>
            <a:off x="3584448" y="345643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5394960" y="345643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7205472" y="345643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3538728" y="3657600"/>
            <a:ext cx="5285232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3584448" y="3685032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5394960" y="3685032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Serum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7205472" y="3685032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₹99.45L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3538728" y="3858768"/>
            <a:ext cx="5285232" cy="20116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02" name="Text 100"/>
          <p:cNvSpPr/>
          <p:nvPr/>
        </p:nvSpPr>
        <p:spPr>
          <a:xfrm>
            <a:off x="3584448" y="3886200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Moisturizer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394960" y="3886200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Retinol 0.3% Night Cream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7205472" y="3886200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₹72.00L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38728" y="4059936"/>
            <a:ext cx="5285232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3584448" y="4087368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Cream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5394960" y="4087368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 Eye Cream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7205472" y="4087368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₹62.71L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3538728" y="4261104"/>
            <a:ext cx="5285232" cy="20116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10" name="Text 108"/>
          <p:cNvSpPr/>
          <p:nvPr/>
        </p:nvSpPr>
        <p:spPr>
          <a:xfrm>
            <a:off x="3584448" y="4288536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Exfoliant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5394960" y="4288536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BHA Exfoliant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7205472" y="4288536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₹50.66L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3538728" y="4462272"/>
            <a:ext cx="5285232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2"/>
          <p:cNvSpPr/>
          <p:nvPr/>
        </p:nvSpPr>
        <p:spPr>
          <a:xfrm>
            <a:off x="3584448" y="4489704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Toner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394960" y="4489704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Centella Cica Toner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7205472" y="4489704"/>
            <a:ext cx="1755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₹39.72L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3538728" y="3415284"/>
            <a:ext cx="5308092" cy="12435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95528" y="471830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Vitamin C Serum is #1 across all categories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POWER BI DASHBOARD EXPLANATION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4279392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4279392" cy="402336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Page 1: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9264" y="137160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· Revenue by State (Bar) · Revenue by Channel · Units by Age Group · Revenue by Gender (Pie)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9264" y="182880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· Category · City Tier · Gender · Year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1579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77824" y="215798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₹70.65M · Cost ₹30.02M · Gross Margin 58% · Orders 40,230 · Returns 3,507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640080" cy="201168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877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78992" y="2615184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Fully filtered · Cross-page slicers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90872" y="896112"/>
            <a:ext cx="4279392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896112"/>
            <a:ext cx="4279392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960120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  Page 2: Product Performance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04104" y="137160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Table · Revenue by Skin Concern (Bar) · Monthly Products Sold (Line) · Products by Age Group (Stacked Bar)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00600" y="1828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04104" y="182880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· Category · City Tier · Ingredients · Returns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00600" y="21579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12664" y="215798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Cost · Products 103,695 · Orders · Returns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00600" y="2578608"/>
            <a:ext cx="64008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5877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513832" y="2615184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Fully filtered · Cross-page slicers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6032" y="2980944"/>
            <a:ext cx="4279392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980944"/>
            <a:ext cx="4279392" cy="40233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044952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Page 3: Customer Behaviour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4564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69264" y="345643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by Review (Donut) · Revenue by Rating (Scatter) · Customers by Age Group (Stacked Bar) · Revenue by Age Group (Bar)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65760" y="3913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9264" y="391363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Repeat Purchase · Age Group · Review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65760" y="4242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77824" y="424281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10,451 · Repeat Rate 84.38% · Avg Rating 4.0 · Orders · Return Rate 9%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4663440"/>
            <a:ext cx="640080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6725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078992" y="4700016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Fully filtered · Cross-page slicers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690872" y="2980944"/>
            <a:ext cx="4279392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90872" y="2980944"/>
            <a:ext cx="4279392" cy="40233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3044952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Page 4: Sales &amp; Marketing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34564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04104" y="345643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 Tier (Pie) · Revenue by State (Map) · Discount vs Units Sold (Scatter) · Revenue by Hero Ingredient (Bar)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00600" y="3913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04104" y="391363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Tier · Hero Ingredient · Skin Type · Review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00600" y="42428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12664" y="424281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Gross Margin 65% · Avg Price ₹681 · Orders · Units Sold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800600" y="4663440"/>
            <a:ext cx="640080" cy="2011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46725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513832" y="4700016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Fully filtered · Cross-page slicers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KEY INSIGHTS DISCOVERED FROM THE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4279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54864" cy="1325880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969264"/>
            <a:ext cx="777240" cy="219456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9692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124358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₹70.65M over 3 years — Growing 14.6% YoY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609344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 season (Oct–Nov) drives 28% of annual sales. October 2024 hit ₹35.96L — the single highest month in 3 years.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90872" y="896112"/>
            <a:ext cx="4279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896112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818888" y="969264"/>
            <a:ext cx="777240" cy="2194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9692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18888" y="124358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Vitamin C Serum is #1 product at ₹99.45L revenue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18888" y="1609344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Anti-Aging is the top skin concern at ₹156.33L (22% of total). Serum category dominates across all age groups 18–40.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" y="2313432"/>
            <a:ext cx="4279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313432"/>
            <a:ext cx="54864" cy="13258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" y="2386584"/>
            <a:ext cx="777240" cy="21945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38658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4048" y="266090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Instagram Shop leads all channels at ₹108.56L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3026664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cities = 45% of revenue. Tier 2 growing fast at 37%. Tier 3 cities (18%) are significantly under-served.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90872" y="2313432"/>
            <a:ext cx="4279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2313432"/>
            <a:ext cx="54864" cy="1325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Shape 23"/>
          <p:cNvSpPr/>
          <p:nvPr/>
        </p:nvSpPr>
        <p:spPr>
          <a:xfrm>
            <a:off x="4818888" y="2386584"/>
            <a:ext cx="77724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238658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18888" y="266090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84.38% repeat rate — 33–40 age group is highest-value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18888" y="3026664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33–40 year olds generate ₹16M — highest segment. 8.7% return rate exceeds industry average of 5–7% — needs attention.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3730752"/>
            <a:ext cx="4279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730752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048" y="3803904"/>
            <a:ext cx="777240" cy="21945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38039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84048" y="407822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Influencer collabs account for 9,028 orders (22.4%)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" y="4443984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orders have slightly higher avg rating (3.79 vs 3.76). Ascorbic Acid (Vitamin C) is #1 ingredient at ₹9.9M.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90872" y="3730752"/>
            <a:ext cx="4279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90872" y="3730752"/>
            <a:ext cx="54864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Shape 35"/>
          <p:cNvSpPr/>
          <p:nvPr/>
        </p:nvSpPr>
        <p:spPr>
          <a:xfrm>
            <a:off x="4818888" y="3803904"/>
            <a:ext cx="777240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4818888" y="38039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18888" y="407822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High discounts (&gt;20%) reduce units sold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18888" y="4443984"/>
            <a:ext cx="4059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discounts (10–19%) produce the best avg units sold across all categories. Blanket discounting strategy needs revision.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RECOMMENDATIONS — Strategic Action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4279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427939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33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Fix Return Rate (8.7% → Target: 5%)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13632" y="1042416"/>
            <a:ext cx="512064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913632" y="104241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5760" y="1408176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Cream (11.11%) and Serum (10.48%) have highest returns. Improve product descriptions, add ingredient guides, and introduce post-purchase education emails.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90872" y="896112"/>
            <a:ext cx="4279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896112"/>
            <a:ext cx="427939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033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Cap Discounts at 20% — Replace With Loyalty Points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348472" y="1042416"/>
            <a:ext cx="512064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348472" y="104241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800600" y="1408176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proves discounts &gt;20% reduce avg units sold. Switch to subscription savings, bundle deals, and loyalty point rewards for repeat customers.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" y="2313432"/>
            <a:ext cx="4279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313432"/>
            <a:ext cx="427939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Scale Influencer Program by +20% Budget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13632" y="2459736"/>
            <a:ext cx="512064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3913632" y="245973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65760" y="2825496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9,028 influencer orders with slightly better ratings. Prioritize Vitamin C Serum (₹99.45L) and Retinol products — highest margin ingredients at 49%+.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90872" y="2313432"/>
            <a:ext cx="4279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2313432"/>
            <a:ext cx="427939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Launch Subscriptions for 33–40 Age Segment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348472" y="2459736"/>
            <a:ext cx="512064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8348472" y="245973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00600" y="2825496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segment at ₹16M. Monthly Anti-Aging subscription boxes will convert this cohort's 55% old customers into long-term subscribers.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3730752"/>
            <a:ext cx="4279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730752"/>
            <a:ext cx="427939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867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Expand Into Tier 3 Cities via Meesho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913632" y="3877056"/>
            <a:ext cx="512064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3913632" y="387705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65760" y="4242816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= only 18% of revenue. Meesho is already in the channel mix. Push affordable SKUs (Cleanser ₹32L, Toner ₹39L) into these under-served markets.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D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A855F7">
              <a:alpha val="28000"/>
            </a:srgbClr>
          </a:solidFill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Analytics — Final Project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438912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77440"/>
            <a:ext cx="822960" cy="3474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77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2414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40,230 records — rename, format, nulls, 3 calculated 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" cy="3474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803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9169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flat table (skincare_data) — 10 queries with verified real results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" cy="3474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832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3419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dashboard — KPIs, charts, slicers, maps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" cy="3474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86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39227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₹70.65M revenue · 84% repeat rate · Instagram leads · 8.7% returns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Microsoft Excel  ·  MySQL / SQL Server  ·  Microsoft Power BI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5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2022 – Dec 2024  |  Records: 40,230  |  Columns: 24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2220</Words>
  <Application>Microsoft Office PowerPoint</Application>
  <PresentationFormat>On-screen Show (16:9)</PresentationFormat>
  <Paragraphs>412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Skincare Analytics – Final Project</dc:title>
  <dc:subject>PptxGenJS Presentation</dc:subject>
  <dc:creator>PptxGenJS</dc:creator>
  <cp:lastModifiedBy>Hanish reddy</cp:lastModifiedBy>
  <cp:revision>3</cp:revision>
  <dcterms:created xsi:type="dcterms:W3CDTF">2026-03-17T16:41:52Z</dcterms:created>
  <dcterms:modified xsi:type="dcterms:W3CDTF">2026-03-18T15:51:36Z</dcterms:modified>
</cp:coreProperties>
</file>